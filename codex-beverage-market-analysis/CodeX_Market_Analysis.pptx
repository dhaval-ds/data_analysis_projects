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Arial"/>
              </a:rPr>
              <a:t>Age Group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Respondents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19–30</c:v>
                  </c:pt>
                  <c:pt idx="1">
                    <c:v>31–45</c:v>
                  </c:pt>
                  <c:pt idx="2">
                    <c:v>15–18</c:v>
                  </c:pt>
                  <c:pt idx="3">
                    <c:v>46–65</c:v>
                  </c:pt>
                  <c:pt idx="4">
                    <c:v>65+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5520</c:v>
                </c:pt>
                <c:pt idx="1">
                  <c:v>2376</c:v>
                </c:pt>
                <c:pt idx="2">
                  <c:v>1488</c:v>
                </c:pt>
                <c:pt idx="3">
                  <c:v>426</c:v>
                </c:pt>
                <c:pt idx="4">
                  <c:v>190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37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13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True Brand Awareness Rate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Awareness %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Delhi</c:v>
                  </c:pt>
                  <c:pt idx="1">
                    <c:v>Mumbai</c:v>
                  </c:pt>
                  <c:pt idx="2">
                    <c:v>Lucknow</c:v>
                  </c:pt>
                  <c:pt idx="3">
                    <c:v>Ahmedabad</c:v>
                  </c:pt>
                  <c:pt idx="4">
                    <c:v>Pune</c:v>
                  </c:pt>
                  <c:pt idx="5">
                    <c:v>Bangalore</c:v>
                  </c:pt>
                  <c:pt idx="6">
                    <c:v>Jaipur</c:v>
                  </c:pt>
                  <c:pt idx="7">
                    <c:v>Hyderabad</c:v>
                  </c:pt>
                  <c:pt idx="8">
                    <c:v>Chennai</c:v>
                  </c:pt>
                  <c:pt idx="9">
                    <c:v>Kolkata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62.24</c:v>
                </c:pt>
                <c:pt idx="1">
                  <c:v>59.54</c:v>
                </c:pt>
                <c:pt idx="2">
                  <c:v>48.57</c:v>
                </c:pt>
                <c:pt idx="3">
                  <c:v>45.39</c:v>
                </c:pt>
                <c:pt idx="4">
                  <c:v>41.61</c:v>
                </c:pt>
                <c:pt idx="5">
                  <c:v>40.95</c:v>
                </c:pt>
                <c:pt idx="6">
                  <c:v>40</c:v>
                </c:pt>
                <c:pt idx="7">
                  <c:v>39.72</c:v>
                </c:pt>
                <c:pt idx="8">
                  <c:v>39.7</c:v>
                </c:pt>
                <c:pt idx="9">
                  <c:v>37.1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Current Brand Market Share (%) — CodeX highlighted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 %</c:v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Cola-Coka</c:v>
                  </c:pt>
                  <c:pt idx="1">
                    <c:v>Bepsi</c:v>
                  </c:pt>
                  <c:pt idx="2">
                    <c:v>Gangster</c:v>
                  </c:pt>
                  <c:pt idx="3">
                    <c:v>Blue Bull</c:v>
                  </c:pt>
                  <c:pt idx="4">
                    <c:v>CodeX</c:v>
                  </c:pt>
                  <c:pt idx="5">
                    <c:v>Sky 9</c:v>
                  </c:pt>
                  <c:pt idx="6">
                    <c:v>Others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25.4</c:v>
                </c:pt>
                <c:pt idx="1">
                  <c:v>21.1</c:v>
                </c:pt>
                <c:pt idx="2">
                  <c:v>18.5</c:v>
                </c:pt>
                <c:pt idx="3">
                  <c:v>10.6</c:v>
                </c:pt>
                <c:pt idx="4">
                  <c:v>9.8</c:v>
                </c:pt>
                <c:pt idx="5">
                  <c:v>9.8</c:v>
                </c:pt>
                <c:pt idx="6">
                  <c:v>4.8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37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13E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 10k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Reduced Sugar</c:v>
                  </c:pt>
                  <c:pt idx="1">
                    <c:v>Natural Ingredients</c:v>
                  </c:pt>
                  <c:pt idx="2">
                    <c:v>Wider Flavors</c:v>
                  </c:pt>
                  <c:pt idx="3">
                    <c:v>Healthier Alt.</c:v>
                  </c:pt>
                  <c:pt idx="4">
                    <c:v>Other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29.95</c:v>
                </c:pt>
                <c:pt idx="1">
                  <c:v>24.98</c:v>
                </c:pt>
                <c:pt idx="2">
                  <c:v>20.37</c:v>
                </c:pt>
                <c:pt idx="3">
                  <c:v>14.72</c:v>
                </c:pt>
                <c:pt idx="4">
                  <c:v>9.98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Non-CodeX Users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Reduced Sugar</c:v>
                  </c:pt>
                  <c:pt idx="1">
                    <c:v>Natural Ingredients</c:v>
                  </c:pt>
                  <c:pt idx="2">
                    <c:v>Wider Flavors</c:v>
                  </c:pt>
                  <c:pt idx="3">
                    <c:v>Healthier Alt.</c:v>
                  </c:pt>
                  <c:pt idx="4">
                    <c:v>Other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29.9</c:v>
                </c:pt>
                <c:pt idx="1">
                  <c:v>25.1</c:v>
                </c:pt>
                <c:pt idx="2">
                  <c:v>20.3</c:v>
                </c:pt>
                <c:pt idx="3">
                  <c:v>14.7</c:v>
                </c:pt>
                <c:pt idx="4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 Ages</c:v>
                </c:pt>
              </c:strCache>
            </c:strRef>
          </c:tx>
          <c:spPr>
            <a:solidFill>
              <a:srgbClr val="4A90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Online Ads</c:v>
                  </c:pt>
                  <c:pt idx="1">
                    <c:v>TV</c:v>
                  </c:pt>
                  <c:pt idx="2">
                    <c:v>Billboards</c:v>
                  </c:pt>
                  <c:pt idx="3">
                    <c:v>Other</c:v>
                  </c:pt>
                  <c:pt idx="4">
                    <c:v>Print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4020</c:v>
                </c:pt>
                <c:pt idx="1">
                  <c:v>2688</c:v>
                </c:pt>
                <c:pt idx="2">
                  <c:v>1226</c:v>
                </c:pt>
                <c:pt idx="3">
                  <c:v>1225</c:v>
                </c:pt>
                <c:pt idx="4">
                  <c:v>841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Age 19–30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Online Ads</c:v>
                  </c:pt>
                  <c:pt idx="1">
                    <c:v>TV</c:v>
                  </c:pt>
                  <c:pt idx="2">
                    <c:v>Billboards</c:v>
                  </c:pt>
                  <c:pt idx="3">
                    <c:v>Other</c:v>
                  </c:pt>
                  <c:pt idx="4">
                    <c:v>Print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2666</c:v>
                </c:pt>
                <c:pt idx="1">
                  <c:v>1290</c:v>
                </c:pt>
                <c:pt idx="2">
                  <c:v>585</c:v>
                </c:pt>
                <c:pt idx="3">
                  <c:v>608</c:v>
                </c:pt>
                <c:pt idx="4">
                  <c:v>371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37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6213E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Expected Ingredients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Ingredients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96167"/>
              </a:solidFill>
              <a:effectLst/>
            </c:spPr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bubble3D val="0"/>
            <c:spPr>
              <a:solidFill>
                <a:srgbClr val="F9E795"/>
              </a:solidFill>
              <a:effectLst/>
            </c:spPr>
          </c:dPt>
          <c:dPt>
            <c:idx val="3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Caffeine</c:v>
                </c:pt>
                <c:pt idx="1">
                  <c:v>Vitamins</c:v>
                </c:pt>
                <c:pt idx="2">
                  <c:v>Sugar</c:v>
                </c:pt>
                <c:pt idx="3">
                  <c:v>Guarana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3896</c:v>
                </c:pt>
                <c:pt idx="1">
                  <c:v>2534</c:v>
                </c:pt>
                <c:pt idx="2">
                  <c:v>2017</c:v>
                </c:pt>
                <c:pt idx="3">
                  <c:v>1553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Packaging Preference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Packaging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96167"/>
              </a:solidFill>
              <a:effectLst/>
            </c:spPr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bubble3D val="0"/>
            <c:spPr>
              <a:solidFill>
                <a:srgbClr val="F9E795"/>
              </a:solidFill>
              <a:effectLst/>
            </c:spPr>
          </c:dPt>
          <c:dPt>
            <c:idx val="3"/>
            <c:bubble3D val="0"/>
            <c:spPr>
              <a:solidFill>
                <a:srgbClr val="94A3B8"/>
              </a:solidFill>
              <a:effectLst/>
            </c:spPr>
          </c:dPt>
          <c:dPt>
            <c:idx val="4"/>
            <c:bubble3D val="0"/>
            <c:spPr>
              <a:solidFill>
                <a:srgbClr val="CBD5E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Compact Cans</c:v>
                </c:pt>
                <c:pt idx="1">
                  <c:v>Innovative Design</c:v>
                </c:pt>
                <c:pt idx="2">
                  <c:v>Collectible</c:v>
                </c:pt>
                <c:pt idx="3">
                  <c:v>Eco-friendly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3984</c:v>
                </c:pt>
                <c:pt idx="1">
                  <c:v>3047</c:v>
                </c:pt>
                <c:pt idx="2">
                  <c:v>1501</c:v>
                </c:pt>
                <c:pt idx="3">
                  <c:v>983</c:v>
                </c:pt>
                <c:pt idx="4">
                  <c:v>485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CodeX Brand Perception (All 10,000)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Perception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9E795"/>
              </a:solidFill>
              <a:effectLst/>
            </c:spPr>
          </c:dPt>
          <c:dPt>
            <c:idx val="1"/>
            <c:bubble3D val="0"/>
            <c:spPr>
              <a:solidFill>
                <a:srgbClr val="22C55E"/>
              </a:solidFill>
              <a:effectLst/>
            </c:spPr>
          </c:dPt>
          <c:dPt>
            <c:idx val="2"/>
            <c:bubble3D val="0"/>
            <c:spPr>
              <a:solidFill>
                <a:srgbClr val="F9616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Neutral</c:v>
                </c:pt>
                <c:pt idx="1">
                  <c:v>Positive</c:v>
                </c:pt>
                <c:pt idx="2">
                  <c:v>Negative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5974</c:v>
                </c:pt>
                <c:pt idx="1">
                  <c:v>2257</c:v>
                </c:pt>
                <c:pt idx="2">
                  <c:v>1769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CodeX Beverage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Analysis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4231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Codebasics Resume Project Challenge 6  |  Python · Pandas · Matplotlib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15468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321868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315468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321868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06040" y="3840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Cities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315468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321868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3840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03720" y="315468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321868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903720" y="3840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7548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Analyst: Geetam  |  github.com/Dhaval-DS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Data Integrity Finding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looked clean — no null values. But there was a hidden logical problem.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0" cy="3383280"/>
          </a:xfrm>
          <a:prstGeom prst="roundRect">
            <a:avLst>
              <a:gd name="adj" fmla="val 3243"/>
            </a:avLst>
          </a:prstGeom>
          <a:solidFill>
            <a:srgbClr val="FFF1F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173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5,119 respondents answered No to Tried_before — meaning they never tasted CodeX.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all of them had Taste_experience ratings (1–5) recorded.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data integrity issue: logically impossible values that would corrupt any taste analysis.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4114800" cy="3383280"/>
          </a:xfrm>
          <a:prstGeom prst="roundRect">
            <a:avLst>
              <a:gd name="adj" fmla="val 3243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4173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87452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df_tried — a filtered dataset of only 4,881 people who actually tried CodeX.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df_master (10,000 rows) preserved for demographics, brand, and city analysis.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taste-related analysis uses df_tried exclusively.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lesson: No nulls does not mean clean data — always check logical consistency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CodeX's Core Customer?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and gender breakdown — 10,000 respondents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50292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188720"/>
            <a:ext cx="3108960" cy="1078992"/>
          </a:xfrm>
          <a:prstGeom prst="roundRect">
            <a:avLst>
              <a:gd name="adj" fmla="val 8475"/>
            </a:avLst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669280" y="1234440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55.2%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669280" y="1737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Males aged 19–30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target segment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669280" y="2450592"/>
            <a:ext cx="3108960" cy="1078992"/>
          </a:xfrm>
          <a:prstGeom prst="roundRect">
            <a:avLst>
              <a:gd name="adj" fmla="val 8475"/>
            </a:avLst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669280" y="2496312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60.4%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669280" y="299923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respondents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0" y="3712464"/>
            <a:ext cx="3108960" cy="1078992"/>
          </a:xfrm>
          <a:prstGeom prst="roundRect">
            <a:avLst>
              <a:gd name="adj" fmla="val 8475"/>
            </a:avLst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669280" y="3758184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19–30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669280" y="426110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purchasing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+ consumption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47183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Male, 19–30, digital-first — college students and early-career professionals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Awareness by City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awareness rate = Heard_before(Yes) / Total per city × 100  |  Raw counts were misleading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55778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188720"/>
            <a:ext cx="2743200" cy="1078992"/>
          </a:xfrm>
          <a:prstGeom prst="roundRect">
            <a:avLst>
              <a:gd name="adj" fmla="val 8475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126480" y="1234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62.2%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126480" y="169164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— double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here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126480" y="2450592"/>
            <a:ext cx="2743200" cy="1078992"/>
          </a:xfrm>
          <a:prstGeom prst="roundRect">
            <a:avLst>
              <a:gd name="adj" fmla="val 8475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26480" y="249631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59.5%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126480" y="2953512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highest 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base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26480" y="3712464"/>
            <a:ext cx="2743200" cy="1078992"/>
          </a:xfrm>
          <a:prstGeom prst="roundRect">
            <a:avLst>
              <a:gd name="adj" fmla="val 8475"/>
            </a:avLst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26480" y="375818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37.1%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126480" y="4215384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Kolkata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— big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untapped market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looked #1 on raw counts but ranks 6th on true awareness — always normalize by sample size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Competition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90.2% of respondents prefer competitor brands — why?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669280" y="11887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Competitors Win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669280" y="1664208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715000" y="1755648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583680" y="180136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Reputation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0" y="2441448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715000" y="2532888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20.3%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583680" y="257860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 / Flavor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0" y="3218688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715000" y="3310128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19.0%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583680" y="33558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669280" y="3995928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715000" y="4087368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16.7%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583680" y="413308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47183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is in red — tied with Sky 9 at 9.8%. Reputation and availability are the key gaps to close.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Customers Want Changed?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top-3 ranking for ALL respondents and non-CodeX users — this is an industry-wide demand signal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84124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183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opportunity: launch a Natural Energy variant — low sugar, Guarana caffeine, mango + mint flavors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Should CodeX Advertise?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channel reach — All ages vs 19–30 target segment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54864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188720"/>
            <a:ext cx="2834640" cy="1078992"/>
          </a:xfrm>
          <a:prstGeom prst="roundRect">
            <a:avLst>
              <a:gd name="adj" fmla="val 8475"/>
            </a:avLst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0" y="126187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40.2%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035040" y="175564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ads reach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respondents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35040" y="2450592"/>
            <a:ext cx="2834640" cy="1078992"/>
          </a:xfrm>
          <a:prstGeom prst="roundRect">
            <a:avLst>
              <a:gd name="adj" fmla="val 8475"/>
            </a:avLst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35040" y="2523744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48.3%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035040" y="30175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ads reach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19–30 group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35040" y="3712464"/>
            <a:ext cx="2834640" cy="1078992"/>
          </a:xfrm>
          <a:prstGeom prst="roundRect">
            <a:avLst>
              <a:gd name="adj" fmla="val 8475"/>
            </a:avLst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35040" y="3785616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035040" y="427939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media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deprioritize entirely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47183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YouTube + Instagram first, TV second, print last. Sponsor marathons + gym events.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 Preferences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ingredients and packaging do customers expect?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41148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1188720"/>
          <a:ext cx="41148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7183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Must-have in every can: Caffeine (38.9%) + Vitamins (25.3%)  |  Compact portable cans win on packaging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 Behaviour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Where, when, and how much — key buying patterns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1627632"/>
          </a:xfrm>
          <a:prstGeom prst="roundRect">
            <a:avLst>
              <a:gd name="adj" fmla="val 6742"/>
            </a:avLst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344168"/>
            <a:ext cx="1097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44.9%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719072" y="137160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from Supermarkets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19072" y="185623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shelf space urgently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234440"/>
            <a:ext cx="4023360" cy="1627632"/>
          </a:xfrm>
          <a:prstGeom prst="roundRect">
            <a:avLst>
              <a:gd name="adj" fmla="val 6742"/>
            </a:avLst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10328" y="1344168"/>
            <a:ext cx="1097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25.5%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062472" y="137160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Online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62472" y="185623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on Blinkit, Zepto, Amazon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36392"/>
            <a:ext cx="4023360" cy="1627632"/>
          </a:xfrm>
          <a:prstGeom prst="roundRect">
            <a:avLst>
              <a:gd name="adj" fmla="val 6742"/>
            </a:avLst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" y="3246120"/>
            <a:ext cx="1097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44.9%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19072" y="3273552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during Sports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19072" y="3758184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marathons and gym events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3136392"/>
            <a:ext cx="4023360" cy="1627632"/>
          </a:xfrm>
          <a:prstGeom prst="roundRect">
            <a:avLst>
              <a:gd name="adj" fmla="val 6742"/>
            </a:avLst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10328" y="3246120"/>
            <a:ext cx="1097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42.9%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062472" y="3273552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Rs.50–99 price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62472" y="3758184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Rs.150 too high for 74%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183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Rs.99 SKU could unlock 74% of the market — pricing is the single biggest barrier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Perception &amp; Health Trends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consumers see CodeX — and the growing health awareness opportunity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42062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754880" y="1188720"/>
            <a:ext cx="4114800" cy="932688"/>
          </a:xfrm>
          <a:prstGeom prst="roundRect">
            <a:avLst>
              <a:gd name="adj" fmla="val 9804"/>
            </a:avLst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800600" y="1261872"/>
            <a:ext cx="1143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60.5%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989320" y="1389888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Concerned about health impacts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2304288"/>
            <a:ext cx="4114800" cy="932688"/>
          </a:xfrm>
          <a:prstGeom prst="roundRect">
            <a:avLst>
              <a:gd name="adj" fmla="val 9804"/>
            </a:avLst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00600" y="2377440"/>
            <a:ext cx="1143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49.8%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989320" y="2505456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Interested in natural/organic variant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3419856"/>
            <a:ext cx="4114800" cy="932688"/>
          </a:xfrm>
          <a:prstGeom prst="roundRect">
            <a:avLst>
              <a:gd name="adj" fmla="val 9804"/>
            </a:avLst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800600" y="3493008"/>
            <a:ext cx="1143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59.7%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989320" y="3621024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perception — huge opportunity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47183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59.7% neutral means undecided, not opposed — brand-building can convert this group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Recommendations for CodeX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Data-backed strategic actions to grow from 9.8% toward market leadership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2651760" cy="1536192"/>
          </a:xfrm>
          <a:prstGeom prst="roundRect">
            <a:avLst>
              <a:gd name="adj" fmla="val 7143"/>
            </a:avLst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243584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2435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26187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682496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Natural Energy variant — low sugar, Guarana caffeine, mango and mint flavors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115568"/>
            <a:ext cx="2651760" cy="1536192"/>
          </a:xfrm>
          <a:prstGeom prst="roundRect">
            <a:avLst>
              <a:gd name="adj" fmla="val 7143"/>
            </a:avLst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64992" y="1243584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3364992" y="12435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126187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64992" y="1682496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Rs.89–99 SKU — current Rs.150 excludes 74% of target market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115568"/>
            <a:ext cx="2651760" cy="1536192"/>
          </a:xfrm>
          <a:prstGeom prst="roundRect">
            <a:avLst>
              <a:gd name="adj" fmla="val 7143"/>
            </a:avLst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9632" y="1243584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6199632" y="12435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75120" y="126187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99632" y="1682496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Your Hustle campaign on Instagram and YouTube — sponsor marathons and college fests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944368"/>
            <a:ext cx="4160520" cy="1536192"/>
          </a:xfrm>
          <a:prstGeom prst="roundRect">
            <a:avLst>
              <a:gd name="adj" fmla="val 7143"/>
            </a:avLst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0352" y="3072384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" y="30723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0906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Ambassador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" y="3511296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Shubman Gill (primary) + Saket Gokhale + Daniel J Samuel for fitness community reach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944368"/>
            <a:ext cx="4160520" cy="1536192"/>
          </a:xfrm>
          <a:prstGeom prst="roundRect">
            <a:avLst>
              <a:gd name="adj" fmla="val 7143"/>
            </a:avLst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19472" y="3072384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6" name="Text 24"/>
          <p:cNvSpPr/>
          <p:nvPr/>
        </p:nvSpPr>
        <p:spPr>
          <a:xfrm>
            <a:off x="4919472" y="30723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30906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19472" y="3511296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on Blinkit, Zepto, Amazon — secure supermarket shelves + gym vending machines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· Pandas · Matplotlib  |  Codebasics Challenge 6  |  github.com/Dhaval-DS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CodeX Beverage Market Analysis</dc:title>
  <dc:subject>PptxGenJS Presentation</dc:subject>
  <dc:creator>Geetam</dc:creator>
  <cp:lastModifiedBy>Geetam</cp:lastModifiedBy>
  <cp:revision>1</cp:revision>
  <dcterms:created xsi:type="dcterms:W3CDTF">2026-06-20T10:20:06Z</dcterms:created>
  <dcterms:modified xsi:type="dcterms:W3CDTF">2026-06-20T10:20:06Z</dcterms:modified>
</cp:coreProperties>
</file>